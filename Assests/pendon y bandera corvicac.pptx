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46A756-28AE-4CBF-B01E-A3E199C81E8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45E808C-46A9-48BF-A5AD-44ECEED90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6C25431-40CB-4AB7-B9C8-1D1AAC320416}"/>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5" name="Marcador de pie de página 4">
            <a:extLst>
              <a:ext uri="{FF2B5EF4-FFF2-40B4-BE49-F238E27FC236}">
                <a16:creationId xmlns:a16="http://schemas.microsoft.com/office/drawing/2014/main" id="{D3C10314-B601-440C-93F6-4A1F88B3C1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C5DA8BC-FA27-4C4A-AFE5-1D806B27A557}"/>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841806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A7CC09-BA21-4657-B146-45EE5E7BA42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B642CB8-98B0-46E2-AE2B-4810408F5958}"/>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1AD4718-F2E6-4AD6-8618-B413EFAC279E}"/>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5" name="Marcador de pie de página 4">
            <a:extLst>
              <a:ext uri="{FF2B5EF4-FFF2-40B4-BE49-F238E27FC236}">
                <a16:creationId xmlns:a16="http://schemas.microsoft.com/office/drawing/2014/main" id="{89876181-7760-4B9C-BCE3-0A2721B9099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EFA41F0-31FF-4219-94E7-4421F7799896}"/>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2711571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AD61F9-90D7-41D8-9ECC-5184F2DCE42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C294D1A-26AE-4C11-9C86-652F6A9C5C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91BE155D-4315-4AA5-B474-8B13E1420E3B}"/>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5" name="Marcador de pie de página 4">
            <a:extLst>
              <a:ext uri="{FF2B5EF4-FFF2-40B4-BE49-F238E27FC236}">
                <a16:creationId xmlns:a16="http://schemas.microsoft.com/office/drawing/2014/main" id="{9692E202-854A-41A0-A462-F095C9B2FF9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DD8371A-5C38-4BB0-A5D8-D7F9E6E0543D}"/>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488026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473D32-D8EC-4A31-92FB-707D1D3B69C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2D65CD8-0F2C-4E19-9E61-E32593A30E6F}"/>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5E7975E-E8D3-473A-8E3C-0A60CB5FD69D}"/>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1CCC670F-8C1A-446D-8B51-9E77B7738D90}"/>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6" name="Marcador de pie de página 5">
            <a:extLst>
              <a:ext uri="{FF2B5EF4-FFF2-40B4-BE49-F238E27FC236}">
                <a16:creationId xmlns:a16="http://schemas.microsoft.com/office/drawing/2014/main" id="{5000B124-E167-4625-BF87-164258484E8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D855FC4-587B-4297-8D2B-B6915ADC8136}"/>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393965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96AF9E-83C7-4905-9D60-DB51C21854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B2D0D81-1254-4498-99C7-8A5C6B0925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38171777-D23B-43C6-9F3C-7F83946A27A0}"/>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FE7D855-2D33-405D-8BF3-658FB96933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4AE73DE6-EFDC-401A-B07E-C13153A63683}"/>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FBE48BE7-1FA4-41D5-875E-F16C8C325B12}"/>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8" name="Marcador de pie de página 7">
            <a:extLst>
              <a:ext uri="{FF2B5EF4-FFF2-40B4-BE49-F238E27FC236}">
                <a16:creationId xmlns:a16="http://schemas.microsoft.com/office/drawing/2014/main" id="{908B3C33-0E40-4E8C-B053-284BA02D28C1}"/>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4F79721-82BE-4373-9CB9-0914B6A65A50}"/>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1766224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B15FC9-B6F9-4A28-9AC7-9EB7DB03084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1DF4DADB-D92D-481F-8881-2AE153A42F43}"/>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4" name="Marcador de pie de página 3">
            <a:extLst>
              <a:ext uri="{FF2B5EF4-FFF2-40B4-BE49-F238E27FC236}">
                <a16:creationId xmlns:a16="http://schemas.microsoft.com/office/drawing/2014/main" id="{50775117-C500-4608-B381-B5219B9B026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1A5101B-C716-4148-88DE-7521366B53D2}"/>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3125586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FC41810-B947-4269-AFDC-FDEC4170EFFD}"/>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3" name="Marcador de pie de página 2">
            <a:extLst>
              <a:ext uri="{FF2B5EF4-FFF2-40B4-BE49-F238E27FC236}">
                <a16:creationId xmlns:a16="http://schemas.microsoft.com/office/drawing/2014/main" id="{E7B337E3-1A71-48B1-ACD6-51C9EE7AFB9C}"/>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BD45045-E857-47A0-8A78-2EF201A9FD0F}"/>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1167027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D66493-DF7C-4A9D-9568-A7F4A908DF0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142DDEC-B174-4DAA-8C55-D58C0BD20F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5D85376-963D-40ED-8A72-F0166FA978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69D50597-B0BC-453B-9FC2-5B9B12A8C447}"/>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6" name="Marcador de pie de página 5">
            <a:extLst>
              <a:ext uri="{FF2B5EF4-FFF2-40B4-BE49-F238E27FC236}">
                <a16:creationId xmlns:a16="http://schemas.microsoft.com/office/drawing/2014/main" id="{0E68A8B9-FE4C-4590-AD17-CDE1FE370E3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D85F8B6-E1E7-450A-AA04-C3401EEDEE4D}"/>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789877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42759-2853-4EC6-8C91-7DDBA3FF63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E2B9263-2B75-45B4-80D5-02E5D90739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631E3D22-84E4-4891-A1E7-B493A3275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34B19707-5FBE-44EA-B7C0-143CC9E20845}"/>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6" name="Marcador de pie de página 5">
            <a:extLst>
              <a:ext uri="{FF2B5EF4-FFF2-40B4-BE49-F238E27FC236}">
                <a16:creationId xmlns:a16="http://schemas.microsoft.com/office/drawing/2014/main" id="{3B227290-57DA-4240-A8BB-C878310B414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E87FA80-5122-460C-8F90-01AF4F5C6BE1}"/>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3532009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991208-1661-4D92-ABF6-67BD9A708A6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1F93A33-AADE-4A67-BF6E-E6C359967CFD}"/>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BC58856-6E67-4BA1-AC6F-3D71D3E62969}"/>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5" name="Marcador de pie de página 4">
            <a:extLst>
              <a:ext uri="{FF2B5EF4-FFF2-40B4-BE49-F238E27FC236}">
                <a16:creationId xmlns:a16="http://schemas.microsoft.com/office/drawing/2014/main" id="{30E8B339-E77C-4A8B-9938-EF5C57344BC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00F01FA-3232-4934-B35F-F2D09EC20F92}"/>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993619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F7BFAC4-1E02-43F4-AC97-78E8CA7702E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F7740FF4-9AB3-4F34-A542-4C1C7153D038}"/>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3483A52-5763-4640-A915-88839C893B85}"/>
              </a:ext>
            </a:extLst>
          </p:cNvPr>
          <p:cNvSpPr>
            <a:spLocks noGrp="1"/>
          </p:cNvSpPr>
          <p:nvPr>
            <p:ph type="dt" sz="half" idx="10"/>
          </p:nvPr>
        </p:nvSpPr>
        <p:spPr/>
        <p:txBody>
          <a:bodyPr/>
          <a:lstStyle/>
          <a:p>
            <a:fld id="{39540B75-6A5A-4CA3-BDA8-97035E5E7599}" type="datetimeFigureOut">
              <a:rPr lang="es-CO" smtClean="0"/>
              <a:t>13/06/2023</a:t>
            </a:fld>
            <a:endParaRPr lang="es-CO"/>
          </a:p>
        </p:txBody>
      </p:sp>
      <p:sp>
        <p:nvSpPr>
          <p:cNvPr id="5" name="Marcador de pie de página 4">
            <a:extLst>
              <a:ext uri="{FF2B5EF4-FFF2-40B4-BE49-F238E27FC236}">
                <a16:creationId xmlns:a16="http://schemas.microsoft.com/office/drawing/2014/main" id="{3870954A-D235-48DE-943B-CB50BE3546B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E576464-DE6B-4B36-914D-893804AACC0C}"/>
              </a:ext>
            </a:extLst>
          </p:cNvPr>
          <p:cNvSpPr>
            <a:spLocks noGrp="1"/>
          </p:cNvSpPr>
          <p:nvPr>
            <p:ph type="sldNum" sz="quarter" idx="12"/>
          </p:nvPr>
        </p:nvSpPr>
        <p:spPr/>
        <p:txBody>
          <a:bodyPr/>
          <a:lstStyle/>
          <a:p>
            <a:fld id="{5AA31758-FB84-486D-AD54-CBFF2DF7CFB2}" type="slidenum">
              <a:rPr lang="es-CO" smtClean="0"/>
              <a:t>‹Nº›</a:t>
            </a:fld>
            <a:endParaRPr lang="es-CO"/>
          </a:p>
        </p:txBody>
      </p:sp>
    </p:spTree>
    <p:extLst>
      <p:ext uri="{BB962C8B-B14F-4D97-AF65-F5344CB8AC3E}">
        <p14:creationId xmlns:p14="http://schemas.microsoft.com/office/powerpoint/2010/main" val="109961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70A1AD4-8636-4858-BB56-FE39B933D1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24C514C-7592-4408-B92F-012BC0283E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8DC215C-FEF7-4F11-938A-9AC42AD08D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540B75-6A5A-4CA3-BDA8-97035E5E7599}" type="datetimeFigureOut">
              <a:rPr lang="es-CO" smtClean="0"/>
              <a:t>13/06/2023</a:t>
            </a:fld>
            <a:endParaRPr lang="es-CO"/>
          </a:p>
        </p:txBody>
      </p:sp>
      <p:sp>
        <p:nvSpPr>
          <p:cNvPr id="5" name="Marcador de pie de página 4">
            <a:extLst>
              <a:ext uri="{FF2B5EF4-FFF2-40B4-BE49-F238E27FC236}">
                <a16:creationId xmlns:a16="http://schemas.microsoft.com/office/drawing/2014/main" id="{CA3C5D78-EB68-454C-8CCB-3993FCEEC3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4C6C441E-7F98-4051-B22C-3989EFE435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A31758-FB84-486D-AD54-CBFF2DF7CFB2}" type="slidenum">
              <a:rPr lang="es-CO" smtClean="0"/>
              <a:t>‹Nº›</a:t>
            </a:fld>
            <a:endParaRPr lang="es-CO"/>
          </a:p>
        </p:txBody>
      </p:sp>
    </p:spTree>
    <p:extLst>
      <p:ext uri="{BB962C8B-B14F-4D97-AF65-F5344CB8AC3E}">
        <p14:creationId xmlns:p14="http://schemas.microsoft.com/office/powerpoint/2010/main" val="2903562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0D3C427-E1D1-452D-9E49-4CB58F284A75}"/>
              </a:ext>
            </a:extLst>
          </p:cNvPr>
          <p:cNvSpPr/>
          <p:nvPr/>
        </p:nvSpPr>
        <p:spPr>
          <a:xfrm>
            <a:off x="1929468" y="872456"/>
            <a:ext cx="9395670" cy="145968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highlight>
                <a:srgbClr val="FF0000"/>
              </a:highlight>
            </a:endParaRPr>
          </a:p>
        </p:txBody>
      </p:sp>
      <p:sp>
        <p:nvSpPr>
          <p:cNvPr id="6" name="Rectángulo 5">
            <a:extLst>
              <a:ext uri="{FF2B5EF4-FFF2-40B4-BE49-F238E27FC236}">
                <a16:creationId xmlns:a16="http://schemas.microsoft.com/office/drawing/2014/main" id="{CA303539-E567-4A2B-A4FA-57CE2AADECF8}"/>
              </a:ext>
            </a:extLst>
          </p:cNvPr>
          <p:cNvSpPr/>
          <p:nvPr/>
        </p:nvSpPr>
        <p:spPr>
          <a:xfrm>
            <a:off x="1929468" y="2332140"/>
            <a:ext cx="9395670" cy="20972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bg1"/>
              </a:solidFill>
            </a:endParaRPr>
          </a:p>
        </p:txBody>
      </p:sp>
      <p:sp>
        <p:nvSpPr>
          <p:cNvPr id="7" name="Rectángulo 6">
            <a:extLst>
              <a:ext uri="{FF2B5EF4-FFF2-40B4-BE49-F238E27FC236}">
                <a16:creationId xmlns:a16="http://schemas.microsoft.com/office/drawing/2014/main" id="{E9E3B6F5-72CA-4EC0-BB00-650B531FA656}"/>
              </a:ext>
            </a:extLst>
          </p:cNvPr>
          <p:cNvSpPr/>
          <p:nvPr/>
        </p:nvSpPr>
        <p:spPr>
          <a:xfrm>
            <a:off x="1929468" y="4373460"/>
            <a:ext cx="9395670" cy="1459684"/>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9" name="Imagen 8">
            <a:extLst>
              <a:ext uri="{FF2B5EF4-FFF2-40B4-BE49-F238E27FC236}">
                <a16:creationId xmlns:a16="http://schemas.microsoft.com/office/drawing/2014/main" id="{C6D3E09F-FB89-4C55-9E95-D4FBBFE331A6}"/>
              </a:ext>
            </a:extLst>
          </p:cNvPr>
          <p:cNvPicPr>
            <a:picLocks noChangeAspect="1"/>
          </p:cNvPicPr>
          <p:nvPr/>
        </p:nvPicPr>
        <p:blipFill rotWithShape="1">
          <a:blip r:embed="rId2">
            <a:extLst>
              <a:ext uri="{28A0092B-C50C-407E-A947-70E740481C1C}">
                <a14:useLocalDpi xmlns:a14="http://schemas.microsoft.com/office/drawing/2010/main" val="0"/>
              </a:ext>
            </a:extLst>
          </a:blip>
          <a:srcRect l="1851" t="5551" r="6625" b="6222"/>
          <a:stretch/>
        </p:blipFill>
        <p:spPr>
          <a:xfrm>
            <a:off x="5234731" y="2332140"/>
            <a:ext cx="2810312" cy="2041320"/>
          </a:xfrm>
          <a:prstGeom prst="rect">
            <a:avLst/>
          </a:prstGeom>
        </p:spPr>
      </p:pic>
    </p:spTree>
    <p:extLst>
      <p:ext uri="{BB962C8B-B14F-4D97-AF65-F5344CB8AC3E}">
        <p14:creationId xmlns:p14="http://schemas.microsoft.com/office/powerpoint/2010/main" val="2657624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3A874C7-A861-40EB-8084-F5F71281C5F7}"/>
              </a:ext>
            </a:extLst>
          </p:cNvPr>
          <p:cNvSpPr txBox="1"/>
          <p:nvPr/>
        </p:nvSpPr>
        <p:spPr>
          <a:xfrm>
            <a:off x="1090569" y="847288"/>
            <a:ext cx="3338818" cy="5226341"/>
          </a:xfrm>
          <a:prstGeom prst="rect">
            <a:avLst/>
          </a:prstGeom>
          <a:noFill/>
        </p:spPr>
        <p:txBody>
          <a:bodyPr wrap="square" rtlCol="0">
            <a:spAutoFit/>
          </a:bodyPr>
          <a:lstStyle/>
          <a:p>
            <a:endParaRPr lang="es-CO" dirty="0"/>
          </a:p>
        </p:txBody>
      </p:sp>
      <p:sp>
        <p:nvSpPr>
          <p:cNvPr id="6" name="CuadroTexto 5">
            <a:extLst>
              <a:ext uri="{FF2B5EF4-FFF2-40B4-BE49-F238E27FC236}">
                <a16:creationId xmlns:a16="http://schemas.microsoft.com/office/drawing/2014/main" id="{4F385281-C1A8-4D40-8262-1838E2664C7C}"/>
              </a:ext>
            </a:extLst>
          </p:cNvPr>
          <p:cNvSpPr txBox="1"/>
          <p:nvPr/>
        </p:nvSpPr>
        <p:spPr>
          <a:xfrm>
            <a:off x="218114" y="153099"/>
            <a:ext cx="4328719" cy="7355860"/>
          </a:xfrm>
          <a:prstGeom prst="rect">
            <a:avLst/>
          </a:prstGeom>
          <a:noFill/>
        </p:spPr>
        <p:txBody>
          <a:bodyPr wrap="square" rtlCol="0">
            <a:spAutoFit/>
          </a:bodyPr>
          <a:lstStyle/>
          <a:p>
            <a:pPr algn="ctr"/>
            <a:endParaRPr lang="es-CO" b="1" u="sng" dirty="0">
              <a:latin typeface="Arial Black" panose="020B0A04020102020204" pitchFamily="34" charset="0"/>
            </a:endParaRPr>
          </a:p>
          <a:p>
            <a:pPr algn="ctr"/>
            <a:endParaRPr lang="es-CO" b="1" u="sng" dirty="0">
              <a:latin typeface="Arial Black" panose="020B0A04020102020204" pitchFamily="34" charset="0"/>
            </a:endParaRPr>
          </a:p>
          <a:p>
            <a:pPr algn="ctr"/>
            <a:endParaRPr lang="es-CO" b="1" u="sng" dirty="0">
              <a:latin typeface="Arial Black" panose="020B0A04020102020204" pitchFamily="34" charset="0"/>
            </a:endParaRPr>
          </a:p>
          <a:p>
            <a:pPr algn="ctr"/>
            <a:r>
              <a:rPr lang="es-CO" b="1" u="sng" dirty="0">
                <a:latin typeface="Arial Black" panose="020B0A04020102020204" pitchFamily="34" charset="0"/>
              </a:rPr>
              <a:t>MISIÓN </a:t>
            </a:r>
            <a:endParaRPr lang="es-CO" dirty="0">
              <a:latin typeface="Arial Black" panose="020B0A04020102020204" pitchFamily="34" charset="0"/>
            </a:endParaRPr>
          </a:p>
          <a:p>
            <a:pPr algn="just"/>
            <a:r>
              <a:rPr lang="es-CO" sz="1400" dirty="0">
                <a:latin typeface="Arial" panose="020B0604020202020204" pitchFamily="34" charset="0"/>
                <a:cs typeface="Arial" panose="020B0604020202020204" pitchFamily="34" charset="0"/>
              </a:rPr>
              <a:t>Somos una organización dinámica sin ánimo de lucro, con altos niveles de actualización e innovación; dedicada a brindar los servicios especializados, que  desarrolla proyectos en apoyo, acompañamiento y asesoría a las víctimas del conflicto armado en Colombia, garantizando una política efectiva, eficiente, integral, con influencia en el territorio nacional e internacional, que ayude a la superación de su situación de vulnerabilidad y el respeto de sus derechos, asesorar a nuestros asociados dentro del marco de la ley de víctimas, los derechos humanos y el derecho internacional humanitario, con el fin de recuperar sus derechos y que estos sean restablecidos, así como la prestación de diferentes programas de capacitación entrenamiento, y desarrollo laboral, que estén acorde con las necesidades de manera tal que adquieran el conocimiento que les permita usarlo como herramienta para la incorporación a la sociedad, con un capital humano apto, capaz y suficiente para propiciar todas las acciones requeridas en el proceso de reparación integral, brindando lo mejor de sí en cuanto a la experiencia, capacidad de gestión y demás conocimientos adquiridos para cumplir las metas en beneficio de cada uno de los integrantes de la corporación. ​</a:t>
            </a:r>
          </a:p>
          <a:p>
            <a:endParaRPr lang="es-CO" dirty="0"/>
          </a:p>
        </p:txBody>
      </p:sp>
      <p:pic>
        <p:nvPicPr>
          <p:cNvPr id="7" name="Imagen 6">
            <a:extLst>
              <a:ext uri="{FF2B5EF4-FFF2-40B4-BE49-F238E27FC236}">
                <a16:creationId xmlns:a16="http://schemas.microsoft.com/office/drawing/2014/main" id="{D72D67F6-1D0C-411C-ACD5-282C7098723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521" y="0"/>
            <a:ext cx="1408906" cy="964734"/>
          </a:xfrm>
          <a:prstGeom prst="rect">
            <a:avLst/>
          </a:prstGeom>
          <a:noFill/>
        </p:spPr>
      </p:pic>
      <p:sp>
        <p:nvSpPr>
          <p:cNvPr id="8" name="CuadroTexto 7">
            <a:extLst>
              <a:ext uri="{FF2B5EF4-FFF2-40B4-BE49-F238E27FC236}">
                <a16:creationId xmlns:a16="http://schemas.microsoft.com/office/drawing/2014/main" id="{B3D24E9E-5285-45A3-9957-A8A847E53D29}"/>
              </a:ext>
            </a:extLst>
          </p:cNvPr>
          <p:cNvSpPr txBox="1"/>
          <p:nvPr/>
        </p:nvSpPr>
        <p:spPr>
          <a:xfrm>
            <a:off x="7780794" y="964734"/>
            <a:ext cx="4328719" cy="6186309"/>
          </a:xfrm>
          <a:prstGeom prst="rect">
            <a:avLst/>
          </a:prstGeom>
          <a:noFill/>
        </p:spPr>
        <p:txBody>
          <a:bodyPr wrap="square" rtlCol="0">
            <a:spAutoFit/>
          </a:bodyPr>
          <a:lstStyle/>
          <a:p>
            <a:pPr algn="ctr"/>
            <a:r>
              <a:rPr lang="es-CO" b="1" u="sng" dirty="0">
                <a:latin typeface="Arial Black" panose="020B0A04020102020204" pitchFamily="34" charset="0"/>
                <a:cs typeface="Arial" panose="020B0604020202020204" pitchFamily="34" charset="0"/>
              </a:rPr>
              <a:t>VISIÓN</a:t>
            </a:r>
            <a:r>
              <a:rPr lang="es-CO" b="1" u="sng" dirty="0">
                <a:latin typeface="Arial" panose="020B0604020202020204" pitchFamily="34" charset="0"/>
                <a:cs typeface="Arial" panose="020B0604020202020204" pitchFamily="34" charset="0"/>
              </a:rPr>
              <a:t> </a:t>
            </a:r>
            <a:endParaRPr lang="es-CO" dirty="0">
              <a:latin typeface="Arial" panose="020B0604020202020204" pitchFamily="34" charset="0"/>
              <a:cs typeface="Arial" panose="020B0604020202020204" pitchFamily="34" charset="0"/>
            </a:endParaRPr>
          </a:p>
          <a:p>
            <a:pPr algn="just"/>
            <a:r>
              <a:rPr lang="es-CO" sz="1500" dirty="0">
                <a:latin typeface="Arial" panose="020B0604020202020204" pitchFamily="34" charset="0"/>
                <a:cs typeface="Arial" panose="020B0604020202020204" pitchFamily="34" charset="0"/>
              </a:rPr>
              <a:t>Pretendemos ser una de las mejores Organizaciones No Gubernamentales – ONG especializadas en contribuir con el apoyo, acompañamiento, asesoría y asistencia proyectada hasta el año 2033</a:t>
            </a:r>
            <a:r>
              <a:rPr lang="es-CO" sz="1500" b="1" u="sng" dirty="0">
                <a:latin typeface="Arial" panose="020B0604020202020204" pitchFamily="34" charset="0"/>
                <a:cs typeface="Arial" panose="020B0604020202020204" pitchFamily="34" charset="0"/>
              </a:rPr>
              <a:t> </a:t>
            </a:r>
            <a:r>
              <a:rPr lang="es-CO" sz="1500" dirty="0">
                <a:latin typeface="Arial" panose="020B0604020202020204" pitchFamily="34" charset="0"/>
                <a:cs typeface="Arial" panose="020B0604020202020204" pitchFamily="34" charset="0"/>
              </a:rPr>
              <a:t>la corporación de Afrocolombianos y mestizos víctimas del conflicto armado en Colombia “</a:t>
            </a:r>
            <a:r>
              <a:rPr lang="es-CO" sz="1500" b="1" dirty="0">
                <a:latin typeface="Arial" panose="020B0604020202020204" pitchFamily="34" charset="0"/>
                <a:cs typeface="Arial" panose="020B0604020202020204" pitchFamily="34" charset="0"/>
              </a:rPr>
              <a:t>CORVICAC</a:t>
            </a:r>
            <a:r>
              <a:rPr lang="es-CO" sz="1500" dirty="0">
                <a:latin typeface="Arial" panose="020B0604020202020204" pitchFamily="34" charset="0"/>
                <a:cs typeface="Arial" panose="020B0604020202020204" pitchFamily="34" charset="0"/>
              </a:rPr>
              <a:t>” busca contribuir con el apoyo a todas las personas víctimas del conflicto armado en Colombia, asociadas para el disfrute de sus derechos, la reconstrucción de sus proyectos de vida, gestionar la recuperación de sus tierras ante organismos nacionales e internacionales , fuentes de su empleo, su educación, y la unión familiar realizando alianzas estratégicas, que permitan cumplir con la prestación del servicio y de esta forma  brindar un grano de arena en la reconstrucción de la paz nacional, En un proceso a corto, mediano y largo plazo buscaremos en todo su sentido la reparación integral de las víctimas que conforman nuestro Colectivo, donde la mayor meta en alcanzar una vida digna, íntegra, saludable, duradera y sostenible de cada núcleo familiar.</a:t>
            </a:r>
          </a:p>
          <a:p>
            <a:endParaRPr lang="es-CO" dirty="0"/>
          </a:p>
        </p:txBody>
      </p:sp>
      <p:pic>
        <p:nvPicPr>
          <p:cNvPr id="9" name="Imagen 8">
            <a:extLst>
              <a:ext uri="{FF2B5EF4-FFF2-40B4-BE49-F238E27FC236}">
                <a16:creationId xmlns:a16="http://schemas.microsoft.com/office/drawing/2014/main" id="{6CBC38D7-D102-4290-9312-9DD6538808D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63573" y="24809"/>
            <a:ext cx="1408906" cy="964734"/>
          </a:xfrm>
          <a:prstGeom prst="rect">
            <a:avLst/>
          </a:prstGeom>
          <a:noFill/>
        </p:spPr>
      </p:pic>
      <p:pic>
        <p:nvPicPr>
          <p:cNvPr id="10" name="Imagen 9">
            <a:extLst>
              <a:ext uri="{FF2B5EF4-FFF2-40B4-BE49-F238E27FC236}">
                <a16:creationId xmlns:a16="http://schemas.microsoft.com/office/drawing/2014/main" id="{0D228C86-5CDC-41EE-9E05-8DF5987A643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05556" y="24809"/>
            <a:ext cx="3057792" cy="1938215"/>
          </a:xfrm>
          <a:prstGeom prst="rect">
            <a:avLst/>
          </a:prstGeom>
          <a:noFill/>
        </p:spPr>
      </p:pic>
      <p:sp>
        <p:nvSpPr>
          <p:cNvPr id="11" name="Rectángulo 10">
            <a:extLst>
              <a:ext uri="{FF2B5EF4-FFF2-40B4-BE49-F238E27FC236}">
                <a16:creationId xmlns:a16="http://schemas.microsoft.com/office/drawing/2014/main" id="{8D89E90E-5671-40C6-A569-29A748EB0024}"/>
              </a:ext>
            </a:extLst>
          </p:cNvPr>
          <p:cNvSpPr/>
          <p:nvPr/>
        </p:nvSpPr>
        <p:spPr>
          <a:xfrm>
            <a:off x="4546833" y="1840070"/>
            <a:ext cx="3308062" cy="4801314"/>
          </a:xfrm>
          <a:prstGeom prst="rect">
            <a:avLst/>
          </a:prstGeom>
        </p:spPr>
        <p:txBody>
          <a:bodyPr wrap="square">
            <a:spAutoFit/>
          </a:bodyPr>
          <a:lstStyle/>
          <a:p>
            <a:pPr algn="ctr"/>
            <a:r>
              <a:rPr lang="es-ES" u="sng" dirty="0">
                <a:latin typeface="Arial Black" panose="020B0A04020102020204" pitchFamily="34" charset="0"/>
              </a:rPr>
              <a:t>QUIENES SOMOS</a:t>
            </a:r>
          </a:p>
          <a:p>
            <a:pPr algn="just"/>
            <a:r>
              <a:rPr lang="es-ES" sz="1200" dirty="0">
                <a:latin typeface="Arial" panose="020B0604020202020204" pitchFamily="34" charset="0"/>
                <a:cs typeface="Arial" panose="020B0604020202020204" pitchFamily="34" charset="0"/>
              </a:rPr>
              <a:t>Un Organismo No Gubernamental para el Desarrollo (ONG), de Economía Social, Sin Ánimo de Lucro, con Autonomía Administrativa y Financiera, creada por Técnicos y Profesionales altamente calificados y experimentados en resarcir la dignidad humana, Derechos Humanos, Cultura, Sensibilización y Capacitación para el Desarrollo, Proyectos Productivos Alternativos,  Rentables y Sostenibles, Creación y Desarrollo de Empresas Asociativas, Planeación y Organización para el Desarrollo Integral Comunitario y Vivienda e Infraestructura Social, Cooperación e integración internacional con innovación a nuevas formas de vida. Desarrollando Acciones basadas en principios éticos, conceptos lógicos y actualizados, metodologías y planes prácticos de ejecución para el logro de resultados e impactos que contribuyan realmente con el desarrollo integral sostenible en lo personal, familiar, comunitario, regional, social, laboral, económico, cultural, ambiental y político.</a:t>
            </a:r>
          </a:p>
        </p:txBody>
      </p:sp>
    </p:spTree>
    <p:extLst>
      <p:ext uri="{BB962C8B-B14F-4D97-AF65-F5344CB8AC3E}">
        <p14:creationId xmlns:p14="http://schemas.microsoft.com/office/powerpoint/2010/main" val="23870231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538</Words>
  <Application>Microsoft Office PowerPoint</Application>
  <PresentationFormat>Panorámica</PresentationFormat>
  <Paragraphs>9</Paragraphs>
  <Slides>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vt:i4>
      </vt:variant>
    </vt:vector>
  </HeadingPairs>
  <TitlesOfParts>
    <vt:vector size="7" baseType="lpstr">
      <vt:lpstr>Arial</vt:lpstr>
      <vt:lpstr>Arial Black</vt:lpstr>
      <vt:lpstr>Calibri</vt:lpstr>
      <vt:lpstr>Calibri Light</vt:lpstr>
      <vt:lpstr>Tema de Office</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user</cp:lastModifiedBy>
  <cp:revision>4</cp:revision>
  <dcterms:created xsi:type="dcterms:W3CDTF">2023-06-13T22:06:47Z</dcterms:created>
  <dcterms:modified xsi:type="dcterms:W3CDTF">2023-06-13T22:39:17Z</dcterms:modified>
</cp:coreProperties>
</file>